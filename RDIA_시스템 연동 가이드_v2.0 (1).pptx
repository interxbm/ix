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43" r:id="rId2"/>
    <p:sldId id="481" r:id="rId3"/>
    <p:sldId id="590" r:id="rId4"/>
    <p:sldId id="591" r:id="rId5"/>
    <p:sldId id="603" r:id="rId6"/>
    <p:sldId id="604" r:id="rId7"/>
    <p:sldId id="605" r:id="rId8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11FA5B8-D81A-4B4D-89C3-0F6D076906D1}">
          <p14:sldIdLst>
            <p14:sldId id="343"/>
            <p14:sldId id="481"/>
            <p14:sldId id="590"/>
            <p14:sldId id="591"/>
            <p14:sldId id="603"/>
            <p14:sldId id="604"/>
            <p14:sldId id="60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618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pos="6069">
          <p15:clr>
            <a:srgbClr val="A4A3A4"/>
          </p15:clr>
        </p15:guide>
        <p15:guide id="4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병민" initials="김" lastIdx="2" clrIdx="0">
    <p:extLst>
      <p:ext uri="{19B8F6BF-5375-455C-9EA6-DF929625EA0E}">
        <p15:presenceInfo xmlns:p15="http://schemas.microsoft.com/office/powerpoint/2012/main" xmlns="" userId="71fc8686197293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03FB"/>
    <a:srgbClr val="FF3300"/>
    <a:srgbClr val="FFFFFF"/>
    <a:srgbClr val="DD0064"/>
    <a:srgbClr val="C6D9F1"/>
    <a:srgbClr val="373C48"/>
    <a:srgbClr val="CC3300"/>
    <a:srgbClr val="294783"/>
    <a:srgbClr val="305397"/>
    <a:srgbClr val="508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02" autoAdjust="0"/>
    <p:restoredTop sz="94280" autoAdjust="0"/>
  </p:normalViewPr>
  <p:slideViewPr>
    <p:cSldViewPr>
      <p:cViewPr varScale="1">
        <p:scale>
          <a:sx n="104" d="100"/>
          <a:sy n="104" d="100"/>
        </p:scale>
        <p:origin x="-76" y="-212"/>
      </p:cViewPr>
      <p:guideLst>
        <p:guide orient="horz" pos="618"/>
        <p:guide orient="horz" pos="4065"/>
        <p:guide pos="6069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274" y="5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1C64B86-941B-49B9-ABA2-58D67EF5F0E5}" type="datetimeFigureOut">
              <a:rPr lang="ko-KR" altLang="en-US"/>
              <a:pPr>
                <a:defRPr/>
              </a:pPr>
              <a:t>2025-11-19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C31E511-347C-42BA-B720-24D979E2A9A7}" type="datetimeFigureOut">
              <a:rPr lang="ko-KR" altLang="en-US"/>
              <a:pPr>
                <a:defRPr/>
              </a:pPr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DD4B4A6-E305-4A32-8099-A8BD2461F08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2767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03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906000" cy="714375"/>
          </a:xfrm>
          <a:prstGeom prst="rect">
            <a:avLst/>
          </a:prstGeom>
          <a:gradFill flip="none" rotWithShape="1">
            <a:gsLst>
              <a:gs pos="0">
                <a:srgbClr val="5082BD">
                  <a:shade val="30000"/>
                  <a:satMod val="115000"/>
                </a:srgbClr>
              </a:gs>
              <a:gs pos="50000">
                <a:srgbClr val="5082BD">
                  <a:shade val="67500"/>
                  <a:satMod val="115000"/>
                </a:srgbClr>
              </a:gs>
              <a:gs pos="100000">
                <a:srgbClr val="5082BD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800" b="1" dirty="0"/>
          </a:p>
        </p:txBody>
      </p:sp>
      <p:sp>
        <p:nvSpPr>
          <p:cNvPr id="5" name="Slide Number Placeholder 2"/>
          <p:cNvSpPr txBox="1">
            <a:spLocks noGrp="1"/>
          </p:cNvSpPr>
          <p:nvPr userDrawn="1"/>
        </p:nvSpPr>
        <p:spPr bwMode="gray">
          <a:xfrm>
            <a:off x="4333875" y="6546850"/>
            <a:ext cx="1238250" cy="2397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61B7890D-4B86-451C-A20D-6C64CE96020E}" type="slidenum">
              <a:rPr kumimoji="0"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lnSpc>
                  <a:spcPct val="80000"/>
                </a:lnSpc>
              </a:pPr>
              <a:t>‹#›</a:t>
            </a:fld>
            <a:endParaRPr kumimoji="0" lang="en-US" altLang="ko-KR" sz="10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2139" y="142852"/>
            <a:ext cx="9441722" cy="500066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2139" y="785794"/>
            <a:ext cx="9441722" cy="571504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62102140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 txBox="1">
            <a:spLocks noGrp="1"/>
          </p:cNvSpPr>
          <p:nvPr userDrawn="1"/>
        </p:nvSpPr>
        <p:spPr bwMode="gray">
          <a:xfrm>
            <a:off x="4333875" y="6546850"/>
            <a:ext cx="1238250" cy="2397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CF303F26-E753-4F25-B21C-7FAAD0D470A3}" type="slidenum">
              <a:rPr kumimoji="0"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lnSpc>
                  <a:spcPct val="80000"/>
                </a:lnSpc>
              </a:pPr>
              <a:t>‹#›</a:t>
            </a:fld>
            <a:endParaRPr kumimoji="0" lang="en-US" altLang="ko-KR" sz="10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5">
            <a:extLst>
              <a:ext uri="{FF2B5EF4-FFF2-40B4-BE49-F238E27FC236}">
                <a16:creationId xmlns:a16="http://schemas.microsoft.com/office/drawing/2014/main" xmlns="" id="{B559C3B6-E6C3-46B4-A055-A48D368412E0}"/>
              </a:ext>
            </a:extLst>
          </p:cNvPr>
          <p:cNvSpPr/>
          <p:nvPr userDrawn="1"/>
        </p:nvSpPr>
        <p:spPr>
          <a:xfrm>
            <a:off x="510106" y="800709"/>
            <a:ext cx="9320894" cy="5580620"/>
          </a:xfrm>
          <a:prstGeom prst="roundRect">
            <a:avLst>
              <a:gd name="adj" fmla="val 14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419" tIns="42210" rIns="84419" bIns="42210" rtlCol="0" anchor="ctr"/>
          <a:lstStyle/>
          <a:p>
            <a:pPr algn="ctr"/>
            <a:endParaRPr lang="ko-KR" altLang="en-US" sz="195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7AC22CD-921D-4DA2-94A6-D4FC2B808A9C}"/>
              </a:ext>
            </a:extLst>
          </p:cNvPr>
          <p:cNvSpPr/>
          <p:nvPr userDrawn="1"/>
        </p:nvSpPr>
        <p:spPr>
          <a:xfrm>
            <a:off x="78060" y="908722"/>
            <a:ext cx="2016000" cy="396043"/>
          </a:xfrm>
          <a:prstGeom prst="rect">
            <a:avLst/>
          </a:prstGeom>
          <a:solidFill>
            <a:srgbClr val="004A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419" tIns="42210" rIns="84419" bIns="42210" rtlCol="0" anchor="ctr"/>
          <a:lstStyle/>
          <a:p>
            <a:endParaRPr lang="ko-KR" altLang="en-US" sz="1300" b="1" dirty="0">
              <a:latin typeface="+mn-ea"/>
            </a:endParaRPr>
          </a:p>
        </p:txBody>
      </p:sp>
      <p:sp>
        <p:nvSpPr>
          <p:cNvPr id="5" name="직각 삼각형 4">
            <a:extLst>
              <a:ext uri="{FF2B5EF4-FFF2-40B4-BE49-F238E27FC236}">
                <a16:creationId xmlns:a16="http://schemas.microsoft.com/office/drawing/2014/main" xmlns="" id="{6C8788F2-F5AC-42E7-A894-5B92B1200DD1}"/>
              </a:ext>
            </a:extLst>
          </p:cNvPr>
          <p:cNvSpPr/>
          <p:nvPr userDrawn="1"/>
        </p:nvSpPr>
        <p:spPr>
          <a:xfrm flipH="1" flipV="1">
            <a:off x="78057" y="1304765"/>
            <a:ext cx="432049" cy="144016"/>
          </a:xfrm>
          <a:prstGeom prst="rt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419" tIns="42210" rIns="84419" bIns="42210" rtlCol="0" anchor="ctr"/>
          <a:lstStyle/>
          <a:p>
            <a:pPr algn="ctr"/>
            <a:endParaRPr lang="ko-KR" altLang="en-US" sz="1950">
              <a:solidFill>
                <a:prstClr val="white"/>
              </a:solidFill>
            </a:endParaRPr>
          </a:p>
        </p:txBody>
      </p:sp>
      <p:sp>
        <p:nvSpPr>
          <p:cNvPr id="6" name="텍스트 개체 틀 14">
            <a:extLst>
              <a:ext uri="{FF2B5EF4-FFF2-40B4-BE49-F238E27FC236}">
                <a16:creationId xmlns:a16="http://schemas.microsoft.com/office/drawing/2014/main" xmlns="" id="{6D89709E-4062-4981-A7EE-F1176C72AF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094" y="905038"/>
            <a:ext cx="2195612" cy="396715"/>
          </a:xfrm>
        </p:spPr>
        <p:txBody>
          <a:bodyPr anchor="ctr">
            <a:noAutofit/>
          </a:bodyPr>
          <a:lstStyle>
            <a:lvl1pPr marL="0" indent="0">
              <a:buNone/>
              <a:defRPr sz="1083" b="1">
                <a:solidFill>
                  <a:schemeClr val="bg1"/>
                </a:solidFill>
              </a:defRPr>
            </a:lvl1pPr>
            <a:lvl2pPr marL="422082" indent="0">
              <a:buNone/>
              <a:defRPr sz="1300">
                <a:solidFill>
                  <a:schemeClr val="bg1"/>
                </a:solidFill>
              </a:defRPr>
            </a:lvl2pPr>
            <a:lvl3pPr marL="844164" indent="0">
              <a:buNone/>
              <a:defRPr sz="1300">
                <a:solidFill>
                  <a:schemeClr val="bg1"/>
                </a:solidFill>
              </a:defRPr>
            </a:lvl3pPr>
            <a:lvl4pPr marL="1266246" indent="0">
              <a:buNone/>
              <a:defRPr sz="1300">
                <a:solidFill>
                  <a:schemeClr val="bg1"/>
                </a:solidFill>
              </a:defRPr>
            </a:lvl4pPr>
            <a:lvl5pPr marL="1688326" indent="0">
              <a:buNone/>
              <a:defRPr sz="1300">
                <a:solidFill>
                  <a:schemeClr val="bg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15AADE1F-C821-405F-9605-84532B0DBFA1}"/>
              </a:ext>
            </a:extLst>
          </p:cNvPr>
          <p:cNvSpPr/>
          <p:nvPr userDrawn="1"/>
        </p:nvSpPr>
        <p:spPr>
          <a:xfrm>
            <a:off x="0" y="0"/>
            <a:ext cx="9906000" cy="714375"/>
          </a:xfrm>
          <a:prstGeom prst="rect">
            <a:avLst/>
          </a:prstGeom>
          <a:gradFill flip="none" rotWithShape="1">
            <a:gsLst>
              <a:gs pos="0">
                <a:srgbClr val="5082BD">
                  <a:shade val="30000"/>
                  <a:satMod val="115000"/>
                </a:srgbClr>
              </a:gs>
              <a:gs pos="50000">
                <a:srgbClr val="5082BD">
                  <a:shade val="67500"/>
                  <a:satMod val="115000"/>
                </a:srgbClr>
              </a:gs>
              <a:gs pos="100000">
                <a:srgbClr val="5082BD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7596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8"/>
          <p:cNvSpPr>
            <a:spLocks noChangeShapeType="1"/>
          </p:cNvSpPr>
          <p:nvPr userDrawn="1"/>
        </p:nvSpPr>
        <p:spPr bwMode="auto">
          <a:xfrm>
            <a:off x="0" y="642938"/>
            <a:ext cx="9906000" cy="0"/>
          </a:xfrm>
          <a:prstGeom prst="line">
            <a:avLst/>
          </a:prstGeom>
          <a:noFill/>
          <a:ln w="57150" cmpd="thickThin">
            <a:solidFill>
              <a:srgbClr val="839CE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18"/>
          <p:cNvSpPr>
            <a:spLocks noChangeShapeType="1"/>
          </p:cNvSpPr>
          <p:nvPr userDrawn="1"/>
        </p:nvSpPr>
        <p:spPr bwMode="auto">
          <a:xfrm flipV="1">
            <a:off x="0" y="6396038"/>
            <a:ext cx="9902825" cy="4762"/>
          </a:xfrm>
          <a:prstGeom prst="line">
            <a:avLst/>
          </a:prstGeom>
          <a:noFill/>
          <a:ln w="41275">
            <a:solidFill>
              <a:srgbClr val="839CE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" name="Slide Number Placeholder 2"/>
          <p:cNvSpPr txBox="1">
            <a:spLocks noGrp="1"/>
          </p:cNvSpPr>
          <p:nvPr userDrawn="1"/>
        </p:nvSpPr>
        <p:spPr bwMode="gray">
          <a:xfrm>
            <a:off x="4333875" y="6546850"/>
            <a:ext cx="1238250" cy="2397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84C2E4A2-D4A7-41FF-8271-E7BEA8014B56}" type="slidenum">
              <a:rPr kumimoji="0"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lnSpc>
                  <a:spcPct val="80000"/>
                </a:lnSpc>
              </a:pPr>
              <a:t>‹#›</a:t>
            </a:fld>
            <a:endParaRPr kumimoji="0" lang="en-US" altLang="ko-KR" sz="10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514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66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8"/>
          <p:cNvSpPr>
            <a:spLocks noChangeShapeType="1"/>
          </p:cNvSpPr>
          <p:nvPr userDrawn="1"/>
        </p:nvSpPr>
        <p:spPr bwMode="auto">
          <a:xfrm>
            <a:off x="0" y="642938"/>
            <a:ext cx="9906000" cy="0"/>
          </a:xfrm>
          <a:prstGeom prst="line">
            <a:avLst/>
          </a:prstGeom>
          <a:noFill/>
          <a:ln w="57150" cmpd="thickThin">
            <a:solidFill>
              <a:srgbClr val="839CE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18"/>
          <p:cNvSpPr>
            <a:spLocks noChangeShapeType="1"/>
          </p:cNvSpPr>
          <p:nvPr userDrawn="1"/>
        </p:nvSpPr>
        <p:spPr bwMode="auto">
          <a:xfrm flipV="1">
            <a:off x="0" y="6396038"/>
            <a:ext cx="9902825" cy="4762"/>
          </a:xfrm>
          <a:prstGeom prst="line">
            <a:avLst/>
          </a:prstGeom>
          <a:noFill/>
          <a:ln w="41275">
            <a:solidFill>
              <a:srgbClr val="839CE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2"/>
          <p:cNvSpPr txBox="1">
            <a:spLocks noGrp="1"/>
          </p:cNvSpPr>
          <p:nvPr userDrawn="1"/>
        </p:nvSpPr>
        <p:spPr bwMode="gray">
          <a:xfrm>
            <a:off x="4333875" y="6546850"/>
            <a:ext cx="123825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F84AF233-169C-47DF-8631-CFD584A68A33}" type="slidenum">
              <a:rPr kumimoji="0" lang="ko-KR" altLang="en-US" sz="1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lnSpc>
                  <a:spcPct val="80000"/>
                </a:lnSpc>
              </a:pPr>
              <a:t>‹#›</a:t>
            </a:fld>
            <a:endParaRPr kumimoji="0" lang="en-US" altLang="ko-KR" sz="1000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5836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 txBox="1">
            <a:spLocks noGrp="1"/>
          </p:cNvSpPr>
          <p:nvPr userDrawn="1"/>
        </p:nvSpPr>
        <p:spPr bwMode="gray">
          <a:xfrm>
            <a:off x="4333875" y="6546850"/>
            <a:ext cx="123825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62FBB7F3-FE3E-4615-BED2-11CC2CD5B993}" type="slidenum">
              <a:rPr kumimoji="0" lang="ko-KR" altLang="en-US" sz="1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lnSpc>
                  <a:spcPct val="80000"/>
                </a:lnSpc>
              </a:pPr>
              <a:t>‹#›</a:t>
            </a:fld>
            <a:endParaRPr kumimoji="0" lang="en-US" altLang="ko-KR" sz="1000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Rectangle 102"/>
          <p:cNvSpPr>
            <a:spLocks noChangeArrowheads="1"/>
          </p:cNvSpPr>
          <p:nvPr userDrawn="1"/>
        </p:nvSpPr>
        <p:spPr bwMode="auto">
          <a:xfrm>
            <a:off x="1190625" y="2684463"/>
            <a:ext cx="18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endParaRPr lang="ko-KR" altLang="en-US" sz="3600">
              <a:solidFill>
                <a:srgbClr val="FF0000"/>
              </a:solidFill>
            </a:endParaRPr>
          </a:p>
        </p:txBody>
      </p:sp>
      <p:graphicFrame>
        <p:nvGraphicFramePr>
          <p:cNvPr id="3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476423"/>
              </p:ext>
            </p:extLst>
          </p:nvPr>
        </p:nvGraphicFramePr>
        <p:xfrm>
          <a:off x="106363" y="1101419"/>
          <a:ext cx="9691687" cy="5357013"/>
        </p:xfrm>
        <a:graphic>
          <a:graphicData uri="http://schemas.openxmlformats.org/drawingml/2006/table">
            <a:tbl>
              <a:tblPr/>
              <a:tblGrid>
                <a:gridCol w="69459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57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611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508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xmlns="" id="{48DBAB42-01BD-4681-A2D6-D30228A3F40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9851359"/>
              </p:ext>
            </p:extLst>
          </p:nvPr>
        </p:nvGraphicFramePr>
        <p:xfrm>
          <a:off x="106363" y="63979"/>
          <a:ext cx="9691686" cy="949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205">
                  <a:extLst>
                    <a:ext uri="{9D8B030D-6E8A-4147-A177-3AD203B41FA5}">
                      <a16:colId xmlns:a16="http://schemas.microsoft.com/office/drawing/2014/main" xmlns="" val="3441794095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xmlns="" val="79000958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4207976012"/>
                    </a:ext>
                  </a:extLst>
                </a:gridCol>
                <a:gridCol w="3404889">
                  <a:extLst>
                    <a:ext uri="{9D8B030D-6E8A-4147-A177-3AD203B41FA5}">
                      <a16:colId xmlns:a16="http://schemas.microsoft.com/office/drawing/2014/main" xmlns="" val="3806559853"/>
                    </a:ext>
                  </a:extLst>
                </a:gridCol>
              </a:tblGrid>
              <a:tr h="3163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08247993"/>
                  </a:ext>
                </a:extLst>
              </a:tr>
              <a:tr h="3163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화면명칭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작성일자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44528223"/>
                  </a:ext>
                </a:extLst>
              </a:tr>
              <a:tr h="3163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화면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388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88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 txBox="1">
            <a:spLocks noGrp="1"/>
          </p:cNvSpPr>
          <p:nvPr userDrawn="1"/>
        </p:nvSpPr>
        <p:spPr bwMode="gray">
          <a:xfrm>
            <a:off x="4333875" y="6546850"/>
            <a:ext cx="123825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B3305E18-F5B1-4151-9FC3-B393C33A9BE0}" type="slidenum">
              <a:rPr kumimoji="0" lang="ko-KR" altLang="en-US" sz="1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lnSpc>
                  <a:spcPct val="80000"/>
                </a:lnSpc>
              </a:pPr>
              <a:t>‹#›</a:t>
            </a:fld>
            <a:endParaRPr kumimoji="0" lang="en-US" altLang="ko-KR" sz="1000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73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5" r:id="rId2"/>
    <p:sldLayoutId id="2147484228" r:id="rId3"/>
    <p:sldLayoutId id="2147484226" r:id="rId4"/>
    <p:sldLayoutId id="2147484229" r:id="rId5"/>
    <p:sldLayoutId id="2147484231" r:id="rId6"/>
    <p:sldLayoutId id="2147484232" r:id="rId7"/>
    <p:sldLayoutId id="2147484233" r:id="rId8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rdia.daeduck.com:8888/datalake" TargetMode="External"/><Relationship Id="rId2" Type="http://schemas.openxmlformats.org/officeDocument/2006/relationships/hyperlink" Target="http://3.35.7.227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18483" y="2995116"/>
            <a:ext cx="6269038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fontAlgn="auto">
              <a:spcAft>
                <a:spcPts val="0"/>
              </a:spcAft>
              <a:defRPr/>
            </a:pPr>
            <a:r>
              <a:rPr kumimoji="0" lang="en-US" altLang="ko-KR" sz="4000" b="1" dirty="0">
                <a:latin typeface="+mj-lt"/>
                <a:ea typeface="+mj-ea"/>
                <a:cs typeface="+mj-cs"/>
              </a:rPr>
              <a:t>1. </a:t>
            </a:r>
            <a:r>
              <a:rPr kumimoji="0" lang="ko-KR" altLang="en-US" sz="4000" b="1" dirty="0" smtClean="0">
                <a:latin typeface="+mj-lt"/>
                <a:ea typeface="+mj-ea"/>
                <a:cs typeface="+mj-cs"/>
              </a:rPr>
              <a:t>시스템 연동 방안 </a:t>
            </a:r>
            <a:endParaRPr kumimoji="0" lang="ko-KR" altLang="en-US" sz="4000" b="1" dirty="0"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4648" y="2564904"/>
            <a:ext cx="783778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i="1" kern="1000" spc="-150" dirty="0" smtClean="0">
                <a:solidFill>
                  <a:srgbClr val="053292"/>
                </a:solidFill>
                <a:latin typeface="에스코어 드림 6 Bold" pitchFamily="34" charset="-127"/>
                <a:ea typeface="에스코어 드림 6 Bold" pitchFamily="34" charset="-127"/>
              </a:rPr>
              <a:t>AI </a:t>
            </a:r>
            <a:r>
              <a:rPr lang="ko-KR" altLang="en-US" i="1" kern="1000" spc="-150" dirty="0">
                <a:solidFill>
                  <a:srgbClr val="053292"/>
                </a:solidFill>
                <a:latin typeface="에스코어 드림 6 Bold" pitchFamily="34" charset="-127"/>
                <a:ea typeface="에스코어 드림 6 Bold" pitchFamily="34" charset="-127"/>
              </a:rPr>
              <a:t>기반 장비 자율제어</a:t>
            </a:r>
            <a:r>
              <a:rPr lang="ko-KR" altLang="en-US" i="1" kern="1000" spc="-150" dirty="0">
                <a:latin typeface="에스코어 드림 6 Bold" pitchFamily="34" charset="-127"/>
                <a:ea typeface="에스코어 드림 6 Bold" pitchFamily="34" charset="-127"/>
              </a:rPr>
              <a:t> </a:t>
            </a:r>
            <a:r>
              <a:rPr lang="ko-KR" altLang="en-US" i="1" kern="1000" spc="-150" dirty="0" smtClean="0">
                <a:solidFill>
                  <a:srgbClr val="053292"/>
                </a:solidFill>
                <a:latin typeface="에스코어 드림 6 Bold" pitchFamily="34" charset="-127"/>
                <a:ea typeface="에스코어 드림 6 Bold" pitchFamily="34" charset="-127"/>
              </a:rPr>
              <a:t>및 </a:t>
            </a:r>
            <a:r>
              <a:rPr lang="ko-KR" altLang="en-US" i="1" kern="1000" spc="-150" dirty="0">
                <a:solidFill>
                  <a:srgbClr val="053292"/>
                </a:solidFill>
                <a:latin typeface="에스코어 드림 6 Bold" pitchFamily="34" charset="-127"/>
                <a:ea typeface="에스코어 드림 6 Bold" pitchFamily="34" charset="-127"/>
              </a:rPr>
              <a:t>상태 계측 기술 개발</a:t>
            </a:r>
          </a:p>
          <a:p>
            <a:pPr algn="r" fontAlgn="auto">
              <a:spcAft>
                <a:spcPts val="0"/>
              </a:spcAft>
              <a:defRPr/>
            </a:pPr>
            <a:r>
              <a:rPr kumimoji="0" lang="en-US" altLang="ko-KR" sz="2600" b="1" dirty="0" smtClean="0">
                <a:latin typeface="+mj-lt"/>
                <a:ea typeface="+mj-ea"/>
                <a:cs typeface="+mj-cs"/>
              </a:rPr>
              <a:t>  </a:t>
            </a:r>
            <a:endParaRPr kumimoji="0" lang="ko-KR" altLang="en-US" sz="2600" b="1" dirty="0">
              <a:latin typeface="+mj-lt"/>
              <a:ea typeface="+mj-ea"/>
              <a:cs typeface="+mj-cs"/>
            </a:endParaRPr>
          </a:p>
        </p:txBody>
      </p:sp>
      <p:cxnSp>
        <p:nvCxnSpPr>
          <p:cNvPr id="8217" name="AutoShape 26"/>
          <p:cNvCxnSpPr>
            <a:cxnSpLocks noChangeShapeType="1"/>
          </p:cNvCxnSpPr>
          <p:nvPr/>
        </p:nvCxnSpPr>
        <p:spPr bwMode="auto">
          <a:xfrm>
            <a:off x="3651846" y="3715445"/>
            <a:ext cx="6035675" cy="1587"/>
          </a:xfrm>
          <a:prstGeom prst="straightConnector1">
            <a:avLst/>
          </a:prstGeom>
          <a:noFill/>
          <a:ln w="63500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59776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6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1. </a:t>
            </a:r>
            <a:r>
              <a:rPr lang="en-US" altLang="ko-KR" dirty="0" smtClean="0"/>
              <a:t>RDIA </a:t>
            </a:r>
            <a:r>
              <a:rPr lang="ko-KR" altLang="en-US" dirty="0" smtClean="0"/>
              <a:t>시스템 연동 </a:t>
            </a:r>
            <a:r>
              <a:rPr lang="ko-KR" altLang="en-US" dirty="0"/>
              <a:t>개요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3B4A25B6-98E3-477E-8B80-0CC0F85AA6F1}"/>
              </a:ext>
            </a:extLst>
          </p:cNvPr>
          <p:cNvSpPr/>
          <p:nvPr/>
        </p:nvSpPr>
        <p:spPr>
          <a:xfrm>
            <a:off x="221094" y="838338"/>
            <a:ext cx="102773" cy="358414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xmlns="" id="{BF98C4E2-8026-44CB-A789-AFBDAB1C9547}"/>
              </a:ext>
            </a:extLst>
          </p:cNvPr>
          <p:cNvSpPr/>
          <p:nvPr/>
        </p:nvSpPr>
        <p:spPr>
          <a:xfrm>
            <a:off x="304588" y="854750"/>
            <a:ext cx="9252375" cy="30762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RDIA 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시스템 연동</a:t>
            </a:r>
            <a:r>
              <a:rPr lang="en-US" altLang="ko-KR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 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운영</a:t>
            </a:r>
            <a:endParaRPr lang="ko-KR" altLang="en-US" sz="1500" b="1" spc="-7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xmlns="" id="{1B901FBE-02A0-46DD-B9BD-C9968A1D2EF7}"/>
              </a:ext>
            </a:extLst>
          </p:cNvPr>
          <p:cNvGrpSpPr/>
          <p:nvPr/>
        </p:nvGrpSpPr>
        <p:grpSpPr>
          <a:xfrm>
            <a:off x="352480" y="1349771"/>
            <a:ext cx="9281039" cy="1647181"/>
            <a:chOff x="591422" y="1619733"/>
            <a:chExt cx="8460000" cy="556039"/>
          </a:xfrm>
        </p:grpSpPr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xmlns="" id="{2E6AECBF-5970-49D3-8084-90CF3D20939C}"/>
                </a:ext>
              </a:extLst>
            </p:cNvPr>
            <p:cNvCxnSpPr/>
            <p:nvPr/>
          </p:nvCxnSpPr>
          <p:spPr bwMode="auto">
            <a:xfrm flipH="1">
              <a:off x="591422" y="2175772"/>
              <a:ext cx="8460000" cy="0"/>
            </a:xfrm>
            <a:prstGeom prst="line">
              <a:avLst/>
            </a:prstGeom>
            <a:solidFill>
              <a:srgbClr val="0066FF"/>
            </a:solidFill>
            <a:ln w="9525" cap="flat" cmpd="sng" algn="ctr">
              <a:gradFill>
                <a:gsLst>
                  <a:gs pos="0">
                    <a:srgbClr val="0070C0">
                      <a:alpha val="0"/>
                    </a:srgbClr>
                  </a:gs>
                  <a:gs pos="21000">
                    <a:srgbClr val="0070C0"/>
                  </a:gs>
                  <a:gs pos="79000">
                    <a:srgbClr val="0070C0"/>
                  </a:gs>
                  <a:gs pos="100000">
                    <a:srgbClr val="FFFFFF">
                      <a:lumMod val="85000"/>
                      <a:alpha val="0"/>
                    </a:srgbClr>
                  </a:gs>
                </a:gsLst>
                <a:lin ang="108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xmlns="" id="{F7B96586-AAA1-473A-BCAB-D39A71AF200D}"/>
                </a:ext>
              </a:extLst>
            </p:cNvPr>
            <p:cNvCxnSpPr/>
            <p:nvPr/>
          </p:nvCxnSpPr>
          <p:spPr bwMode="auto">
            <a:xfrm flipH="1">
              <a:off x="591422" y="1619733"/>
              <a:ext cx="8352000" cy="0"/>
            </a:xfrm>
            <a:prstGeom prst="line">
              <a:avLst/>
            </a:prstGeom>
            <a:solidFill>
              <a:srgbClr val="0066FF"/>
            </a:solidFill>
            <a:ln w="9525" cap="flat" cmpd="sng" algn="ctr">
              <a:gradFill>
                <a:gsLst>
                  <a:gs pos="0">
                    <a:srgbClr val="0070C0">
                      <a:alpha val="0"/>
                    </a:srgbClr>
                  </a:gs>
                  <a:gs pos="21000">
                    <a:srgbClr val="0070C0"/>
                  </a:gs>
                  <a:gs pos="79000">
                    <a:srgbClr val="0070C0"/>
                  </a:gs>
                  <a:gs pos="100000">
                    <a:srgbClr val="FFFFFF">
                      <a:lumMod val="85000"/>
                      <a:alpha val="0"/>
                    </a:srgbClr>
                  </a:gs>
                </a:gsLst>
                <a:lin ang="108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4CB86473-A275-40D8-B371-615FA3ECABC7}"/>
              </a:ext>
            </a:extLst>
          </p:cNvPr>
          <p:cNvSpPr txBox="1"/>
          <p:nvPr/>
        </p:nvSpPr>
        <p:spPr>
          <a:xfrm>
            <a:off x="431012" y="1412776"/>
            <a:ext cx="9152021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제조 현장 데이터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(Edge)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실시간 데이터 전송 관리</a:t>
            </a:r>
            <a:endParaRPr lang="en-US" altLang="ko-KR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송신 방안 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REST API 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통한 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 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송신</a:t>
            </a:r>
            <a:endParaRPr lang="en-US" altLang="ko-KR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메시지 송수신 처리 방안 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Agent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수신된 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 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Kafka 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시스템에서 데이터 전송 및 수신 처리</a:t>
            </a:r>
            <a:endParaRPr lang="en-US" altLang="ko-KR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수신 방안 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DataOps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와 인터페이스 코드를 통한 데이터 저장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표준화 방안 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AAS 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표준에 따른 변환 및 저장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xmlns="" id="{3B4A25B6-98E3-477E-8B80-0CC0F85AA6F1}"/>
              </a:ext>
            </a:extLst>
          </p:cNvPr>
          <p:cNvSpPr/>
          <p:nvPr/>
        </p:nvSpPr>
        <p:spPr>
          <a:xfrm>
            <a:off x="224077" y="3268572"/>
            <a:ext cx="102773" cy="358414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xmlns="" id="{BF98C4E2-8026-44CB-A789-AFBDAB1C9547}"/>
              </a:ext>
            </a:extLst>
          </p:cNvPr>
          <p:cNvSpPr/>
          <p:nvPr/>
        </p:nvSpPr>
        <p:spPr>
          <a:xfrm>
            <a:off x="307571" y="3284984"/>
            <a:ext cx="9252375" cy="30762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RDIA 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시스템 연동 </a:t>
            </a:r>
            <a:r>
              <a:rPr lang="ko-KR" altLang="en-US" sz="1500" b="1" spc="-70" dirty="0" err="1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아키텍쳐</a:t>
            </a:r>
            <a:endParaRPr lang="ko-KR" altLang="en-US" sz="1500" b="1" spc="-7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28" name="사각형: 둥근 모서리 21">
            <a:extLst>
              <a:ext uri="{FF2B5EF4-FFF2-40B4-BE49-F238E27FC236}">
                <a16:creationId xmlns="" xmlns:a16="http://schemas.microsoft.com/office/drawing/2014/main" id="{E86739F7-DC02-C504-4A63-F4FEF7DA01B3}"/>
              </a:ext>
            </a:extLst>
          </p:cNvPr>
          <p:cNvSpPr/>
          <p:nvPr/>
        </p:nvSpPr>
        <p:spPr>
          <a:xfrm>
            <a:off x="544560" y="4146671"/>
            <a:ext cx="1524959" cy="473284"/>
          </a:xfrm>
          <a:prstGeom prst="roundRect">
            <a:avLst>
              <a:gd name="adj" fmla="val 8394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>
            <a:innerShdw blurRad="215900">
              <a:srgbClr val="44546A">
                <a:alpha val="1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872571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바른고딕"/>
                <a:ea typeface="SpoqaHanSans" panose="020B0500000000000000" pitchFamily="50" charset="-127"/>
                <a:cs typeface="+mn-cs"/>
              </a:rPr>
              <a:t>Edge </a:t>
            </a:r>
            <a:r>
              <a:rPr kumimoji="0" lang="en-US" altLang="ko-K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바른고딕"/>
                <a:ea typeface="SpoqaHanSans" panose="020B0500000000000000" pitchFamily="50" charset="-127"/>
                <a:cs typeface="+mn-cs"/>
              </a:rPr>
              <a:t>IIoT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나눔바른고딕"/>
              <a:ea typeface="SpoqaHanSans" panose="020B0500000000000000" pitchFamily="50" charset="-127"/>
              <a:cs typeface="+mn-cs"/>
            </a:endParaRPr>
          </a:p>
        </p:txBody>
      </p:sp>
      <p:sp>
        <p:nvSpPr>
          <p:cNvPr id="29" name="사각형: 둥근 모서리 22">
            <a:extLst>
              <a:ext uri="{FF2B5EF4-FFF2-40B4-BE49-F238E27FC236}">
                <a16:creationId xmlns="" xmlns:a16="http://schemas.microsoft.com/office/drawing/2014/main" id="{52B71500-1391-E05B-5DA7-1E80BB3B3A2D}"/>
              </a:ext>
            </a:extLst>
          </p:cNvPr>
          <p:cNvSpPr/>
          <p:nvPr/>
        </p:nvSpPr>
        <p:spPr>
          <a:xfrm>
            <a:off x="1417729" y="5691685"/>
            <a:ext cx="648958" cy="432000"/>
          </a:xfrm>
          <a:prstGeom prst="roundRect">
            <a:avLst>
              <a:gd name="adj" fmla="val 8394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>
            <a:innerShdw blurRad="215900">
              <a:srgbClr val="44546A">
                <a:alpha val="1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872571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바른고딕"/>
                <a:ea typeface="SpoqaHanSans" panose="020B0500000000000000" pitchFamily="50" charset="-127"/>
                <a:cs typeface="+mn-cs"/>
              </a:rPr>
              <a:t>센서</a:t>
            </a:r>
          </a:p>
        </p:txBody>
      </p:sp>
      <p:sp>
        <p:nvSpPr>
          <p:cNvPr id="30" name="사각형: 둥근 모서리 23">
            <a:extLst>
              <a:ext uri="{FF2B5EF4-FFF2-40B4-BE49-F238E27FC236}">
                <a16:creationId xmlns="" xmlns:a16="http://schemas.microsoft.com/office/drawing/2014/main" id="{1E8881A2-955D-48F8-FEE3-FB3D2219206C}"/>
              </a:ext>
            </a:extLst>
          </p:cNvPr>
          <p:cNvSpPr/>
          <p:nvPr/>
        </p:nvSpPr>
        <p:spPr>
          <a:xfrm>
            <a:off x="544560" y="5691685"/>
            <a:ext cx="648958" cy="432000"/>
          </a:xfrm>
          <a:prstGeom prst="roundRect">
            <a:avLst>
              <a:gd name="adj" fmla="val 8394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>
            <a:innerShdw blurRad="215900">
              <a:srgbClr val="44546A">
                <a:alpha val="1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872571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바른고딕"/>
                <a:ea typeface="SpoqaHanSans" panose="020B0500000000000000" pitchFamily="50" charset="-127"/>
                <a:cs typeface="+mn-cs"/>
              </a:rPr>
              <a:t>장비</a:t>
            </a:r>
          </a:p>
        </p:txBody>
      </p:sp>
      <p:sp>
        <p:nvSpPr>
          <p:cNvPr id="31" name="사각형: 둥근 모서리 19">
            <a:extLst>
              <a:ext uri="{FF2B5EF4-FFF2-40B4-BE49-F238E27FC236}">
                <a16:creationId xmlns="" xmlns:a16="http://schemas.microsoft.com/office/drawing/2014/main" id="{50569EF2-E889-70CC-5944-ECD76A2B09B4}"/>
              </a:ext>
            </a:extLst>
          </p:cNvPr>
          <p:cNvSpPr/>
          <p:nvPr/>
        </p:nvSpPr>
        <p:spPr>
          <a:xfrm>
            <a:off x="544560" y="4970133"/>
            <a:ext cx="648958" cy="432000"/>
          </a:xfrm>
          <a:prstGeom prst="roundRect">
            <a:avLst>
              <a:gd name="adj" fmla="val 8394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>
            <a:innerShdw blurRad="215900">
              <a:srgbClr val="44546A">
                <a:alpha val="1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872571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바른고딕"/>
                <a:ea typeface="SpoqaHanSans" panose="020B0500000000000000" pitchFamily="50" charset="-127"/>
                <a:cs typeface="+mn-cs"/>
              </a:rPr>
              <a:t>도금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나눔바른고딕"/>
              <a:ea typeface="SpoqaHanSans" panose="020B0500000000000000" pitchFamily="50" charset="-127"/>
              <a:cs typeface="+mn-cs"/>
            </a:endParaRPr>
          </a:p>
        </p:txBody>
      </p:sp>
      <p:sp>
        <p:nvSpPr>
          <p:cNvPr id="32" name="사각형: 둥근 모서리 19">
            <a:extLst>
              <a:ext uri="{FF2B5EF4-FFF2-40B4-BE49-F238E27FC236}">
                <a16:creationId xmlns="" xmlns:a16="http://schemas.microsoft.com/office/drawing/2014/main" id="{AC128AC8-BC11-DCAE-09B2-7B5A3C0AF607}"/>
              </a:ext>
            </a:extLst>
          </p:cNvPr>
          <p:cNvSpPr/>
          <p:nvPr/>
        </p:nvSpPr>
        <p:spPr>
          <a:xfrm>
            <a:off x="1417729" y="4970133"/>
            <a:ext cx="648958" cy="432000"/>
          </a:xfrm>
          <a:prstGeom prst="roundRect">
            <a:avLst>
              <a:gd name="adj" fmla="val 8394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>
            <a:innerShdw blurRad="215900">
              <a:srgbClr val="44546A">
                <a:alpha val="1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872571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바른고딕"/>
                <a:ea typeface="SpoqaHanSans" panose="020B0500000000000000" pitchFamily="50" charset="-127"/>
                <a:cs typeface="+mn-cs"/>
              </a:rPr>
              <a:t>회로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나눔바른고딕"/>
              <a:ea typeface="SpoqaHanSans" panose="020B0500000000000000" pitchFamily="50" charset="-127"/>
              <a:cs typeface="+mn-cs"/>
            </a:endParaRPr>
          </a:p>
        </p:txBody>
      </p:sp>
      <p:cxnSp>
        <p:nvCxnSpPr>
          <p:cNvPr id="33" name="꺾인 연결선[E] 261">
            <a:extLst>
              <a:ext uri="{FF2B5EF4-FFF2-40B4-BE49-F238E27FC236}">
                <a16:creationId xmlns="" xmlns:a16="http://schemas.microsoft.com/office/drawing/2014/main" id="{C7604ECE-11E2-3948-DC0F-C38808FC00C2}"/>
              </a:ext>
            </a:extLst>
          </p:cNvPr>
          <p:cNvCxnSpPr>
            <a:cxnSpLocks/>
            <a:stCxn id="29" idx="1"/>
            <a:endCxn id="28" idx="2"/>
          </p:cNvCxnSpPr>
          <p:nvPr/>
        </p:nvCxnSpPr>
        <p:spPr>
          <a:xfrm rot="10800000">
            <a:off x="1307041" y="4619955"/>
            <a:ext cx="110689" cy="1287730"/>
          </a:xfrm>
          <a:prstGeom prst="bentConnector2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pic>
        <p:nvPicPr>
          <p:cNvPr id="34" name="그림 33">
            <a:extLst>
              <a:ext uri="{FF2B5EF4-FFF2-40B4-BE49-F238E27FC236}">
                <a16:creationId xmlns="" xmlns:a16="http://schemas.microsoft.com/office/drawing/2014/main" id="{8D1CD05D-1E5E-7759-6443-D3FB36674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386" y="3870267"/>
            <a:ext cx="634579" cy="1000504"/>
          </a:xfrm>
          <a:prstGeom prst="rect">
            <a:avLst/>
          </a:prstGeom>
        </p:spPr>
      </p:pic>
      <p:pic>
        <p:nvPicPr>
          <p:cNvPr id="35" name="Picture 12" descr="C:\Users\IMPIX\Downloads\database-tabl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24" y="3835023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7" descr="C:\Users\IMPIX\Downloads\virtual-machin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702" y="3550713"/>
            <a:ext cx="576064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사각형: 둥근 모서리 202">
            <a:extLst>
              <a:ext uri="{FF2B5EF4-FFF2-40B4-BE49-F238E27FC236}">
                <a16:creationId xmlns:a16="http://schemas.microsoft.com/office/drawing/2014/main" xmlns="" id="{B170449D-5F7C-4D7B-9FF6-E8E14FEB5190}"/>
              </a:ext>
            </a:extLst>
          </p:cNvPr>
          <p:cNvSpPr/>
          <p:nvPr/>
        </p:nvSpPr>
        <p:spPr>
          <a:xfrm>
            <a:off x="3222432" y="4152747"/>
            <a:ext cx="1874583" cy="2300441"/>
          </a:xfrm>
          <a:prstGeom prst="roundRect">
            <a:avLst>
              <a:gd name="adj" fmla="val 3824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8" name="TextBox 37"/>
          <p:cNvSpPr txBox="1"/>
          <p:nvPr/>
        </p:nvSpPr>
        <p:spPr>
          <a:xfrm>
            <a:off x="3368824" y="4247408"/>
            <a:ext cx="1380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i="1" dirty="0" smtClean="0">
                <a:latin typeface="에스코어 드림 6 Bold" pitchFamily="34" charset="-127"/>
                <a:ea typeface="에스코어 드림 6 Bold" pitchFamily="34" charset="-127"/>
              </a:rPr>
              <a:t>RDIA System</a:t>
            </a:r>
            <a:endParaRPr lang="ko-KR" altLang="en-US" sz="1000" i="1" dirty="0">
              <a:latin typeface="에스코어 드림 6 Bold" pitchFamily="34" charset="-127"/>
              <a:ea typeface="에스코어 드림 6 Bold" pitchFamily="34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568635" y="4578757"/>
            <a:ext cx="1225683" cy="25387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에스코어 드림 6 Bold" pitchFamily="34" charset="-127"/>
                <a:ea typeface="에스코어 드림 6 Bold" pitchFamily="34" charset="-127"/>
              </a:rPr>
              <a:t>데이터 수신</a:t>
            </a:r>
            <a:endParaRPr lang="ko-KR" altLang="en-US" sz="800" dirty="0">
              <a:solidFill>
                <a:schemeClr val="bg1"/>
              </a:solidFill>
              <a:latin typeface="에스코어 드림 6 Bold" pitchFamily="34" charset="-127"/>
              <a:ea typeface="에스코어 드림 6 Bold" pitchFamily="34" charset="-127"/>
            </a:endParaRPr>
          </a:p>
        </p:txBody>
      </p:sp>
      <p:sp>
        <p:nvSpPr>
          <p:cNvPr id="40" name="사각형: 둥근 모서리 202">
            <a:extLst>
              <a:ext uri="{FF2B5EF4-FFF2-40B4-BE49-F238E27FC236}">
                <a16:creationId xmlns:a16="http://schemas.microsoft.com/office/drawing/2014/main" xmlns="" id="{B170449D-5F7C-4D7B-9FF6-E8E14FEB5190}"/>
              </a:ext>
            </a:extLst>
          </p:cNvPr>
          <p:cNvSpPr/>
          <p:nvPr/>
        </p:nvSpPr>
        <p:spPr>
          <a:xfrm>
            <a:off x="7938737" y="4046035"/>
            <a:ext cx="1399451" cy="2300441"/>
          </a:xfrm>
          <a:prstGeom prst="roundRect">
            <a:avLst>
              <a:gd name="adj" fmla="val 3824"/>
            </a:avLst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63670539-D4FF-4115-AF8E-149972BDE0DD}"/>
              </a:ext>
            </a:extLst>
          </p:cNvPr>
          <p:cNvSpPr txBox="1"/>
          <p:nvPr/>
        </p:nvSpPr>
        <p:spPr>
          <a:xfrm>
            <a:off x="8571004" y="4712201"/>
            <a:ext cx="7920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 smtClean="0">
                <a:solidFill>
                  <a:schemeClr val="tx2"/>
                </a:solidFill>
                <a:latin typeface="에스코어 드림 6 Bold" pitchFamily="34" charset="-127"/>
                <a:ea typeface="에스코어 드림 6 Bold" pitchFamily="34" charset="-127"/>
                <a:cs typeface="Arial" panose="020B0604020202020204" pitchFamily="34" charset="0"/>
              </a:rPr>
              <a:t>RDB</a:t>
            </a:r>
            <a:endParaRPr lang="ko-KR" altLang="en-US" sz="600" dirty="0">
              <a:solidFill>
                <a:schemeClr val="tx2"/>
              </a:solidFill>
              <a:latin typeface="에스코어 드림 6 Bold" pitchFamily="34" charset="-127"/>
              <a:ea typeface="에스코어 드림 6 Bold" pitchFamily="34" charset="-127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63670539-D4FF-4115-AF8E-149972BDE0DD}"/>
              </a:ext>
            </a:extLst>
          </p:cNvPr>
          <p:cNvSpPr txBox="1"/>
          <p:nvPr/>
        </p:nvSpPr>
        <p:spPr>
          <a:xfrm>
            <a:off x="8638462" y="5399811"/>
            <a:ext cx="7920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 err="1" smtClean="0">
                <a:solidFill>
                  <a:schemeClr val="tx2"/>
                </a:solidFill>
                <a:latin typeface="에스코어 드림 6 Bold" pitchFamily="34" charset="-127"/>
                <a:ea typeface="에스코어 드림 6 Bold" pitchFamily="34" charset="-127"/>
                <a:cs typeface="Arial" panose="020B0604020202020204" pitchFamily="34" charset="0"/>
              </a:rPr>
              <a:t>시계열</a:t>
            </a:r>
            <a:r>
              <a:rPr lang="ko-KR" altLang="en-US" sz="600" dirty="0" smtClean="0">
                <a:solidFill>
                  <a:schemeClr val="tx2"/>
                </a:solidFill>
                <a:latin typeface="에스코어 드림 6 Bold" pitchFamily="34" charset="-127"/>
                <a:ea typeface="에스코어 드림 6 Bold" pitchFamily="34" charset="-127"/>
                <a:cs typeface="Arial" panose="020B0604020202020204" pitchFamily="34" charset="0"/>
              </a:rPr>
              <a:t> </a:t>
            </a:r>
            <a:r>
              <a:rPr lang="en-US" altLang="ko-KR" sz="600" dirty="0" smtClean="0">
                <a:solidFill>
                  <a:schemeClr val="tx2"/>
                </a:solidFill>
                <a:latin typeface="에스코어 드림 6 Bold" pitchFamily="34" charset="-127"/>
                <a:ea typeface="에스코어 드림 6 Bold" pitchFamily="34" charset="-127"/>
                <a:cs typeface="Arial" panose="020B0604020202020204" pitchFamily="34" charset="0"/>
              </a:rPr>
              <a:t>DB</a:t>
            </a:r>
            <a:endParaRPr lang="ko-KR" altLang="en-US" sz="600" dirty="0">
              <a:solidFill>
                <a:schemeClr val="tx2"/>
              </a:solidFill>
              <a:latin typeface="에스코어 드림 6 Bold" pitchFamily="34" charset="-127"/>
              <a:ea typeface="에스코어 드림 6 Bold" pitchFamily="34" charset="-127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63670539-D4FF-4115-AF8E-149972BDE0DD}"/>
              </a:ext>
            </a:extLst>
          </p:cNvPr>
          <p:cNvSpPr txBox="1"/>
          <p:nvPr/>
        </p:nvSpPr>
        <p:spPr>
          <a:xfrm>
            <a:off x="8745783" y="6028182"/>
            <a:ext cx="6173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 smtClean="0">
                <a:solidFill>
                  <a:schemeClr val="tx2"/>
                </a:solidFill>
                <a:latin typeface="에스코어 드림 6 Bold" pitchFamily="34" charset="-127"/>
                <a:ea typeface="에스코어 드림 6 Bold" pitchFamily="34" charset="-127"/>
                <a:cs typeface="Arial" panose="020B0604020202020204" pitchFamily="34" charset="0"/>
              </a:rPr>
              <a:t>HDFS</a:t>
            </a:r>
            <a:endParaRPr lang="ko-KR" altLang="en-US" sz="600" dirty="0">
              <a:solidFill>
                <a:schemeClr val="tx2"/>
              </a:solidFill>
              <a:latin typeface="에스코어 드림 6 Bold" pitchFamily="34" charset="-127"/>
              <a:ea typeface="에스코어 드림 6 Bold" pitchFamily="34" charset="-127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38737" y="4032880"/>
            <a:ext cx="1380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i="1" dirty="0" err="1" smtClean="0">
                <a:latin typeface="에스코어 드림 6 Bold" pitchFamily="34" charset="-127"/>
                <a:ea typeface="에스코어 드림 6 Bold" pitchFamily="34" charset="-127"/>
              </a:rPr>
              <a:t>DataOps</a:t>
            </a:r>
            <a:endParaRPr lang="ko-KR" altLang="en-US" sz="1000" i="1" dirty="0">
              <a:latin typeface="에스코어 드림 6 Bold" pitchFamily="34" charset="-127"/>
              <a:ea typeface="에스코어 드림 6 Bold" pitchFamily="34" charset="-127"/>
            </a:endParaRPr>
          </a:p>
        </p:txBody>
      </p:sp>
      <p:pic>
        <p:nvPicPr>
          <p:cNvPr id="45" name="Picture 12" descr="C:\Users\IMPIX\Downloads\database-tabl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062" y="437497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3" descr="C:\Users\IMPIX\Downloads\server-traffic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932" y="5108222"/>
            <a:ext cx="507041" cy="50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HDFS (Hadoop Distributed File System)">
            <a:extLst>
              <a:ext uri="{FF2B5EF4-FFF2-40B4-BE49-F238E27FC236}">
                <a16:creationId xmlns:a16="http://schemas.microsoft.com/office/drawing/2014/main" xmlns="" id="{468DF2AE-D585-451A-9F23-7C0829D6E4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5" t="15867" r="9027" b="23219"/>
          <a:stretch/>
        </p:blipFill>
        <p:spPr bwMode="auto">
          <a:xfrm>
            <a:off x="8004026" y="5828189"/>
            <a:ext cx="904224" cy="35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/>
          <p:cNvSpPr txBox="1"/>
          <p:nvPr/>
        </p:nvSpPr>
        <p:spPr>
          <a:xfrm>
            <a:off x="5355273" y="4106849"/>
            <a:ext cx="1380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i="1" dirty="0" smtClean="0">
                <a:latin typeface="에스코어 드림 6 Bold" pitchFamily="34" charset="-127"/>
                <a:ea typeface="에스코어 드림 6 Bold" pitchFamily="34" charset="-127"/>
              </a:rPr>
              <a:t>AAS System</a:t>
            </a:r>
            <a:endParaRPr lang="ko-KR" altLang="en-US" sz="1000" i="1" dirty="0">
              <a:latin typeface="에스코어 드림 6 Bold" pitchFamily="34" charset="-127"/>
              <a:ea typeface="에스코어 드림 6 Bold" pitchFamily="34" charset="-127"/>
            </a:endParaRPr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2237261" y="4718624"/>
            <a:ext cx="13313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144688" y="4787209"/>
            <a:ext cx="1380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i="1" dirty="0" err="1" smtClean="0">
                <a:latin typeface="에스코어 드림 6 Bold" pitchFamily="34" charset="-127"/>
                <a:ea typeface="에스코어 드림 6 Bold" pitchFamily="34" charset="-127"/>
              </a:rPr>
              <a:t>RestAPI</a:t>
            </a:r>
            <a:r>
              <a:rPr lang="en-US" altLang="ko-KR" sz="1000" i="1" dirty="0" smtClean="0">
                <a:latin typeface="에스코어 드림 6 Bold" pitchFamily="34" charset="-127"/>
                <a:ea typeface="에스코어 드림 6 Bold" pitchFamily="34" charset="-127"/>
              </a:rPr>
              <a:t>(</a:t>
            </a:r>
            <a:r>
              <a:rPr lang="en-US" altLang="ko-KR" sz="1000" i="1" dirty="0" err="1" smtClean="0">
                <a:latin typeface="에스코어 드림 6 Bold" pitchFamily="34" charset="-127"/>
                <a:ea typeface="에스코어 드림 6 Bold" pitchFamily="34" charset="-127"/>
              </a:rPr>
              <a:t>Json</a:t>
            </a:r>
            <a:r>
              <a:rPr lang="en-US" altLang="ko-KR" sz="1000" i="1" dirty="0" smtClean="0">
                <a:latin typeface="에스코어 드림 6 Bold" pitchFamily="34" charset="-127"/>
                <a:ea typeface="에스코어 드림 6 Bold" pitchFamily="34" charset="-127"/>
              </a:rPr>
              <a:t>)</a:t>
            </a:r>
            <a:endParaRPr lang="ko-KR" altLang="en-US" sz="1000" i="1" dirty="0">
              <a:latin typeface="에스코어 드림 6 Bold" pitchFamily="34" charset="-127"/>
              <a:ea typeface="에스코어 드림 6 Bold" pitchFamily="34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560997" y="5006299"/>
            <a:ext cx="1225683" cy="25387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에스코어 드림 6 Bold" pitchFamily="34" charset="-127"/>
                <a:ea typeface="에스코어 드림 6 Bold" pitchFamily="34" charset="-127"/>
              </a:rPr>
              <a:t>데이터 변화</a:t>
            </a:r>
            <a:r>
              <a:rPr lang="en-US" altLang="ko-KR" sz="800" dirty="0" smtClean="0">
                <a:solidFill>
                  <a:schemeClr val="bg1"/>
                </a:solidFill>
                <a:latin typeface="에스코어 드림 6 Bold" pitchFamily="34" charset="-127"/>
                <a:ea typeface="에스코어 드림 6 Bold" pitchFamily="34" charset="-127"/>
              </a:rPr>
              <a:t>(AAS)</a:t>
            </a:r>
            <a:endParaRPr lang="ko-KR" altLang="en-US" sz="800" dirty="0">
              <a:solidFill>
                <a:schemeClr val="bg1"/>
              </a:solidFill>
              <a:latin typeface="에스코어 드림 6 Bold" pitchFamily="34" charset="-127"/>
              <a:ea typeface="에스코어 드림 6 Bold" pitchFamily="34" charset="-127"/>
            </a:endParaRPr>
          </a:p>
        </p:txBody>
      </p:sp>
      <p:cxnSp>
        <p:nvCxnSpPr>
          <p:cNvPr id="10" name="꺾인 연결선 9"/>
          <p:cNvCxnSpPr>
            <a:stCxn id="52" idx="2"/>
            <a:endCxn id="59" idx="3"/>
          </p:cNvCxnSpPr>
          <p:nvPr/>
        </p:nvCxnSpPr>
        <p:spPr>
          <a:xfrm rot="5400000">
            <a:off x="5026125" y="4113625"/>
            <a:ext cx="780164" cy="125905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3555665" y="5389478"/>
            <a:ext cx="1225683" cy="25387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에스코어 드림 6 Bold" pitchFamily="34" charset="-127"/>
                <a:ea typeface="에스코어 드림 6 Bold" pitchFamily="34" charset="-127"/>
              </a:rPr>
              <a:t>데이터 전송</a:t>
            </a:r>
            <a:r>
              <a:rPr lang="en-US" altLang="ko-KR" sz="800" dirty="0" smtClean="0">
                <a:solidFill>
                  <a:schemeClr val="bg1"/>
                </a:solidFill>
                <a:latin typeface="에스코어 드림 6 Bold" pitchFamily="34" charset="-127"/>
                <a:ea typeface="에스코어 드림 6 Bold" pitchFamily="34" charset="-127"/>
              </a:rPr>
              <a:t>(Pub)</a:t>
            </a:r>
            <a:endParaRPr lang="ko-KR" altLang="en-US" sz="800" dirty="0">
              <a:solidFill>
                <a:schemeClr val="bg1"/>
              </a:solidFill>
              <a:latin typeface="에스코어 드림 6 Bold" pitchFamily="34" charset="-127"/>
              <a:ea typeface="에스코어 드림 6 Bold" pitchFamily="34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555664" y="5755095"/>
            <a:ext cx="1225683" cy="25387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bg1"/>
                </a:solidFill>
                <a:latin typeface="에스코어 드림 6 Bold" pitchFamily="34" charset="-127"/>
                <a:ea typeface="에스코어 드림 6 Bold" pitchFamily="34" charset="-127"/>
              </a:rPr>
              <a:t>Kafka</a:t>
            </a:r>
            <a:endParaRPr lang="ko-KR" altLang="en-US" sz="800" dirty="0">
              <a:solidFill>
                <a:schemeClr val="bg1"/>
              </a:solidFill>
              <a:latin typeface="에스코어 드림 6 Bold" pitchFamily="34" charset="-127"/>
              <a:ea typeface="에스코어 드림 6 Bold" pitchFamily="34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552146" y="6133332"/>
            <a:ext cx="1225683" cy="25387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에스코어 드림 6 Bold" pitchFamily="34" charset="-127"/>
                <a:ea typeface="에스코어 드림 6 Bold" pitchFamily="34" charset="-127"/>
              </a:rPr>
              <a:t>데이터 수신</a:t>
            </a:r>
            <a:r>
              <a:rPr lang="en-US" altLang="ko-KR" sz="800" dirty="0" smtClean="0">
                <a:solidFill>
                  <a:schemeClr val="bg1"/>
                </a:solidFill>
                <a:latin typeface="에스코어 드림 6 Bold" pitchFamily="34" charset="-127"/>
                <a:ea typeface="에스코어 드림 6 Bold" pitchFamily="34" charset="-127"/>
              </a:rPr>
              <a:t>(Sub)</a:t>
            </a:r>
            <a:endParaRPr lang="ko-KR" altLang="en-US" sz="800" dirty="0">
              <a:solidFill>
                <a:schemeClr val="bg1"/>
              </a:solidFill>
              <a:latin typeface="에스코어 드림 6 Bold" pitchFamily="34" charset="-127"/>
              <a:ea typeface="에스코어 드림 6 Bold" pitchFamily="34" charset="-127"/>
            </a:endParaRPr>
          </a:p>
        </p:txBody>
      </p:sp>
      <p:cxnSp>
        <p:nvCxnSpPr>
          <p:cNvPr id="14" name="직선 화살표 연결선 13"/>
          <p:cNvCxnSpPr>
            <a:stCxn id="39" idx="2"/>
            <a:endCxn id="59" idx="0"/>
          </p:cNvCxnSpPr>
          <p:nvPr/>
        </p:nvCxnSpPr>
        <p:spPr>
          <a:xfrm flipH="1">
            <a:off x="4173839" y="4832627"/>
            <a:ext cx="7638" cy="1736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59" idx="2"/>
            <a:endCxn id="60" idx="0"/>
          </p:cNvCxnSpPr>
          <p:nvPr/>
        </p:nvCxnSpPr>
        <p:spPr>
          <a:xfrm flipH="1">
            <a:off x="4168507" y="5260169"/>
            <a:ext cx="5332" cy="129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60" idx="2"/>
          </p:cNvCxnSpPr>
          <p:nvPr/>
        </p:nvCxnSpPr>
        <p:spPr>
          <a:xfrm>
            <a:off x="4168507" y="5643348"/>
            <a:ext cx="12970" cy="1117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61" idx="2"/>
            <a:endCxn id="63" idx="0"/>
          </p:cNvCxnSpPr>
          <p:nvPr/>
        </p:nvCxnSpPr>
        <p:spPr>
          <a:xfrm flipH="1">
            <a:off x="4164988" y="6008965"/>
            <a:ext cx="3518" cy="1243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63" idx="3"/>
            <a:endCxn id="46" idx="1"/>
          </p:cNvCxnSpPr>
          <p:nvPr/>
        </p:nvCxnSpPr>
        <p:spPr>
          <a:xfrm flipV="1">
            <a:off x="4777829" y="5361743"/>
            <a:ext cx="3408103" cy="898524"/>
          </a:xfrm>
          <a:prstGeom prst="bentConnector3">
            <a:avLst>
              <a:gd name="adj1" fmla="val 2284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105128" y="5424948"/>
            <a:ext cx="1380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i="1" dirty="0" smtClean="0">
                <a:latin typeface="에스코어 드림 6 Bold" pitchFamily="34" charset="-127"/>
                <a:ea typeface="에스코어 드림 6 Bold" pitchFamily="34" charset="-127"/>
              </a:rPr>
              <a:t>실시간 데이터 저장</a:t>
            </a:r>
            <a:endParaRPr lang="ko-KR" altLang="en-US" sz="1000" i="1" dirty="0">
              <a:latin typeface="에스코어 드림 6 Bold" pitchFamily="34" charset="-127"/>
              <a:ea typeface="에스코어 드림 6 Bold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046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3B4A25B6-98E3-477E-8B80-0CC0F85AA6F1}"/>
              </a:ext>
            </a:extLst>
          </p:cNvPr>
          <p:cNvSpPr/>
          <p:nvPr/>
        </p:nvSpPr>
        <p:spPr>
          <a:xfrm>
            <a:off x="221094" y="838338"/>
            <a:ext cx="102773" cy="358414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BF98C4E2-8026-44CB-A789-AFBDAB1C9547}"/>
              </a:ext>
            </a:extLst>
          </p:cNvPr>
          <p:cNvSpPr/>
          <p:nvPr/>
        </p:nvSpPr>
        <p:spPr>
          <a:xfrm>
            <a:off x="304588" y="854750"/>
            <a:ext cx="9252375" cy="30762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메시지 </a:t>
            </a:r>
            <a:r>
              <a:rPr lang="en-US" altLang="ko-KR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JSON 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전송 규격</a:t>
            </a:r>
            <a:endParaRPr lang="ko-KR" altLang="en-US" sz="1500" b="1" spc="-7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12" name="제목 65"/>
          <p:cNvSpPr>
            <a:spLocks noGrp="1"/>
          </p:cNvSpPr>
          <p:nvPr>
            <p:ph type="title"/>
          </p:nvPr>
        </p:nvSpPr>
        <p:spPr>
          <a:xfrm>
            <a:off x="232139" y="142852"/>
            <a:ext cx="9441722" cy="500066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메시지 전송 규격 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1B901FBE-02A0-46DD-B9BD-C9968A1D2EF7}"/>
              </a:ext>
            </a:extLst>
          </p:cNvPr>
          <p:cNvGrpSpPr/>
          <p:nvPr/>
        </p:nvGrpSpPr>
        <p:grpSpPr>
          <a:xfrm>
            <a:off x="560512" y="1268760"/>
            <a:ext cx="9281039" cy="1631648"/>
            <a:chOff x="591422" y="1619733"/>
            <a:chExt cx="8460000" cy="556039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xmlns="" id="{2E6AECBF-5970-49D3-8084-90CF3D20939C}"/>
                </a:ext>
              </a:extLst>
            </p:cNvPr>
            <p:cNvCxnSpPr/>
            <p:nvPr/>
          </p:nvCxnSpPr>
          <p:spPr bwMode="auto">
            <a:xfrm flipH="1">
              <a:off x="591422" y="2175772"/>
              <a:ext cx="8460000" cy="0"/>
            </a:xfrm>
            <a:prstGeom prst="line">
              <a:avLst/>
            </a:prstGeom>
            <a:solidFill>
              <a:srgbClr val="0066FF"/>
            </a:solidFill>
            <a:ln w="9525" cap="flat" cmpd="sng" algn="ctr">
              <a:gradFill>
                <a:gsLst>
                  <a:gs pos="0">
                    <a:srgbClr val="0070C0">
                      <a:alpha val="0"/>
                    </a:srgbClr>
                  </a:gs>
                  <a:gs pos="21000">
                    <a:srgbClr val="0070C0"/>
                  </a:gs>
                  <a:gs pos="79000">
                    <a:srgbClr val="0070C0"/>
                  </a:gs>
                  <a:gs pos="100000">
                    <a:srgbClr val="FFFFFF">
                      <a:lumMod val="85000"/>
                      <a:alpha val="0"/>
                    </a:srgbClr>
                  </a:gs>
                </a:gsLst>
                <a:lin ang="108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xmlns="" id="{F7B96586-AAA1-473A-BCAB-D39A71AF200D}"/>
                </a:ext>
              </a:extLst>
            </p:cNvPr>
            <p:cNvCxnSpPr/>
            <p:nvPr/>
          </p:nvCxnSpPr>
          <p:spPr bwMode="auto">
            <a:xfrm flipH="1">
              <a:off x="591422" y="1619733"/>
              <a:ext cx="8352000" cy="0"/>
            </a:xfrm>
            <a:prstGeom prst="line">
              <a:avLst/>
            </a:prstGeom>
            <a:solidFill>
              <a:srgbClr val="0066FF"/>
            </a:solidFill>
            <a:ln w="9525" cap="flat" cmpd="sng" algn="ctr">
              <a:gradFill>
                <a:gsLst>
                  <a:gs pos="0">
                    <a:srgbClr val="0070C0">
                      <a:alpha val="0"/>
                    </a:srgbClr>
                  </a:gs>
                  <a:gs pos="21000">
                    <a:srgbClr val="0070C0"/>
                  </a:gs>
                  <a:gs pos="79000">
                    <a:srgbClr val="0070C0"/>
                  </a:gs>
                  <a:gs pos="100000">
                    <a:srgbClr val="FFFFFF">
                      <a:lumMod val="85000"/>
                      <a:alpha val="0"/>
                    </a:srgbClr>
                  </a:gs>
                </a:gsLst>
                <a:lin ang="108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CB86473-A275-40D8-B371-615FA3ECABC7}"/>
              </a:ext>
            </a:extLst>
          </p:cNvPr>
          <p:cNvSpPr txBox="1"/>
          <p:nvPr/>
        </p:nvSpPr>
        <p:spPr>
          <a:xfrm>
            <a:off x="431012" y="1268760"/>
            <a:ext cx="915202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TID 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구분 형식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300" b="1" dirty="0" err="1" smtClean="0">
                <a:solidFill>
                  <a:srgbClr val="2C03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인터엑스</a:t>
            </a:r>
            <a:r>
              <a:rPr lang="ko-KR" altLang="en-US" sz="1300" b="1" dirty="0" smtClean="0">
                <a:solidFill>
                  <a:srgbClr val="2C03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내용 확인 필요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8544" y="1772816"/>
            <a:ext cx="165618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공장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936776" y="1772816"/>
            <a:ext cx="165618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smtClean="0">
                <a:solidFill>
                  <a:schemeClr val="tx1"/>
                </a:solidFill>
              </a:rPr>
              <a:t>Line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007022" y="1781200"/>
            <a:ext cx="165618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공정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113240" y="1780931"/>
            <a:ext cx="165618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설비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576736" y="2060848"/>
            <a:ext cx="28803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4664968" y="2055003"/>
            <a:ext cx="28803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6753200" y="2068963"/>
            <a:ext cx="28803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4CB86473-A275-40D8-B371-615FA3ECABC7}"/>
              </a:ext>
            </a:extLst>
          </p:cNvPr>
          <p:cNvSpPr txBox="1"/>
          <p:nvPr/>
        </p:nvSpPr>
        <p:spPr>
          <a:xfrm>
            <a:off x="565780" y="2420888"/>
            <a:ext cx="9152021" cy="345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예시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대덕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(MI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센터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)_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회로라인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에칭공정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컨베이어 </a:t>
            </a:r>
            <a:r>
              <a:rPr lang="ko-KR" altLang="en-US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에처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MI_Cir_Etch_SPEtch1</a:t>
            </a:r>
            <a:endParaRPr lang="en-US" altLang="ko-KR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1B901FBE-02A0-46DD-B9BD-C9968A1D2EF7}"/>
              </a:ext>
            </a:extLst>
          </p:cNvPr>
          <p:cNvGrpSpPr/>
          <p:nvPr/>
        </p:nvGrpSpPr>
        <p:grpSpPr>
          <a:xfrm>
            <a:off x="501269" y="2896606"/>
            <a:ext cx="9281039" cy="3225120"/>
            <a:chOff x="591422" y="1619733"/>
            <a:chExt cx="8460000" cy="556039"/>
          </a:xfrm>
        </p:grpSpPr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xmlns="" id="{2E6AECBF-5970-49D3-8084-90CF3D20939C}"/>
                </a:ext>
              </a:extLst>
            </p:cNvPr>
            <p:cNvCxnSpPr/>
            <p:nvPr/>
          </p:nvCxnSpPr>
          <p:spPr bwMode="auto">
            <a:xfrm flipH="1">
              <a:off x="591422" y="2175772"/>
              <a:ext cx="8460000" cy="0"/>
            </a:xfrm>
            <a:prstGeom prst="line">
              <a:avLst/>
            </a:prstGeom>
            <a:solidFill>
              <a:srgbClr val="0066FF"/>
            </a:solidFill>
            <a:ln w="9525" cap="flat" cmpd="sng" algn="ctr">
              <a:gradFill>
                <a:gsLst>
                  <a:gs pos="0">
                    <a:srgbClr val="0070C0">
                      <a:alpha val="0"/>
                    </a:srgbClr>
                  </a:gs>
                  <a:gs pos="21000">
                    <a:srgbClr val="0070C0"/>
                  </a:gs>
                  <a:gs pos="79000">
                    <a:srgbClr val="0070C0"/>
                  </a:gs>
                  <a:gs pos="100000">
                    <a:srgbClr val="FFFFFF">
                      <a:lumMod val="85000"/>
                      <a:alpha val="0"/>
                    </a:srgbClr>
                  </a:gs>
                </a:gsLst>
                <a:lin ang="108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xmlns="" id="{F7B96586-AAA1-473A-BCAB-D39A71AF200D}"/>
                </a:ext>
              </a:extLst>
            </p:cNvPr>
            <p:cNvCxnSpPr/>
            <p:nvPr/>
          </p:nvCxnSpPr>
          <p:spPr bwMode="auto">
            <a:xfrm flipH="1">
              <a:off x="591422" y="1619733"/>
              <a:ext cx="8352000" cy="0"/>
            </a:xfrm>
            <a:prstGeom prst="line">
              <a:avLst/>
            </a:prstGeom>
            <a:solidFill>
              <a:srgbClr val="0066FF"/>
            </a:solidFill>
            <a:ln w="9525" cap="flat" cmpd="sng" algn="ctr">
              <a:gradFill>
                <a:gsLst>
                  <a:gs pos="0">
                    <a:srgbClr val="0070C0">
                      <a:alpha val="0"/>
                    </a:srgbClr>
                  </a:gs>
                  <a:gs pos="21000">
                    <a:srgbClr val="0070C0"/>
                  </a:gs>
                  <a:gs pos="79000">
                    <a:srgbClr val="0070C0"/>
                  </a:gs>
                  <a:gs pos="100000">
                    <a:srgbClr val="FFFFFF">
                      <a:lumMod val="85000"/>
                      <a:alpha val="0"/>
                    </a:srgbClr>
                  </a:gs>
                </a:gsLst>
                <a:lin ang="108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CB86473-A275-40D8-B371-615FA3ECABC7}"/>
              </a:ext>
            </a:extLst>
          </p:cNvPr>
          <p:cNvSpPr txBox="1"/>
          <p:nvPr/>
        </p:nvSpPr>
        <p:spPr>
          <a:xfrm>
            <a:off x="376988" y="2965764"/>
            <a:ext cx="915202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2.  </a:t>
            </a:r>
            <a:r>
              <a:rPr lang="ko-KR" altLang="en-US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컬럼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정의</a:t>
            </a:r>
            <a:endParaRPr lang="en-US" altLang="ko-KR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CB86473-A275-40D8-B371-615FA3ECABC7}"/>
              </a:ext>
            </a:extLst>
          </p:cNvPr>
          <p:cNvSpPr txBox="1"/>
          <p:nvPr/>
        </p:nvSpPr>
        <p:spPr>
          <a:xfrm>
            <a:off x="651371" y="3328654"/>
            <a:ext cx="9152021" cy="3393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TID : 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대덕 형식에 맞게 전송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공장 정보 설비 코드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TID_NM : (</a:t>
            </a:r>
            <a:r>
              <a:rPr lang="ko-KR" altLang="en-US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빈값으로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전송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공장 정보 설비 명칭 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smtClean="0">
                <a:solidFill>
                  <a:srgbClr val="000000"/>
                </a:solidFill>
                <a:latin typeface="맑은 고딕"/>
              </a:rPr>
              <a:t>TIMESTAMP :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/>
              </a:rPr>
              <a:t>데이터 발생 시간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VALUE : </a:t>
            </a:r>
            <a:r>
              <a:rPr lang="ko-KR" altLang="en-US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숫자형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 입력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STR_VALUE : 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문자형 데이터 입력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USL : 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규격 상한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LSL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규격 하한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BAR : </a:t>
            </a:r>
            <a:r>
              <a:rPr lang="en-US" altLang="ko-KR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BarcodeID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LotID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: Lot ID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AssetID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자산 고유 </a:t>
            </a:r>
            <a:r>
              <a:rPr lang="ko-KR" altLang="en-US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식별자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Des : (</a:t>
            </a:r>
            <a:r>
              <a:rPr lang="ko-KR" altLang="en-US" sz="13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빈값으로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전송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 AAS 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변환 시 표준화된 설명을 토대로 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RDIA</a:t>
            </a:r>
            <a:r>
              <a:rPr lang="ko-KR" altLang="en-US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에서 변환 </a:t>
            </a:r>
            <a:endParaRPr lang="en-US" altLang="ko-KR" sz="13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1952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3B4A25B6-98E3-477E-8B80-0CC0F85AA6F1}"/>
              </a:ext>
            </a:extLst>
          </p:cNvPr>
          <p:cNvSpPr/>
          <p:nvPr/>
        </p:nvSpPr>
        <p:spPr>
          <a:xfrm>
            <a:off x="221094" y="838338"/>
            <a:ext cx="102773" cy="358414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BF98C4E2-8026-44CB-A789-AFBDAB1C9547}"/>
              </a:ext>
            </a:extLst>
          </p:cNvPr>
          <p:cNvSpPr/>
          <p:nvPr/>
        </p:nvSpPr>
        <p:spPr>
          <a:xfrm>
            <a:off x="304588" y="854750"/>
            <a:ext cx="9252375" cy="30762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en-US" sz="1500" b="1" spc="-70" dirty="0" err="1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시계열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 데이터 데이터 구조</a:t>
            </a:r>
            <a:endParaRPr lang="ko-KR" altLang="en-US" sz="1500" b="1" spc="-7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22" name="제목 65"/>
          <p:cNvSpPr>
            <a:spLocks noGrp="1"/>
          </p:cNvSpPr>
          <p:nvPr>
            <p:ph type="title"/>
          </p:nvPr>
        </p:nvSpPr>
        <p:spPr>
          <a:xfrm>
            <a:off x="232139" y="142852"/>
            <a:ext cx="9441722" cy="50006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시계열</a:t>
            </a:r>
            <a:r>
              <a:rPr lang="ko-KR" altLang="en-US" dirty="0" smtClean="0"/>
              <a:t> 데이터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CB86473-A275-40D8-B371-615FA3ECABC7}"/>
              </a:ext>
            </a:extLst>
          </p:cNvPr>
          <p:cNvSpPr txBox="1"/>
          <p:nvPr/>
        </p:nvSpPr>
        <p:spPr>
          <a:xfrm>
            <a:off x="2576737" y="812354"/>
            <a:ext cx="4392488" cy="345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300" b="1" dirty="0" smtClean="0">
                <a:solidFill>
                  <a:srgbClr val="2C03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=&gt; </a:t>
            </a:r>
            <a:r>
              <a:rPr lang="ko-KR" altLang="en-US" sz="1300" b="1" dirty="0" err="1" smtClean="0">
                <a:solidFill>
                  <a:srgbClr val="2C03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인터엑스</a:t>
            </a:r>
            <a:r>
              <a:rPr lang="ko-KR" altLang="en-US" sz="1300" b="1" dirty="0" smtClean="0">
                <a:solidFill>
                  <a:srgbClr val="2C03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협의 필요</a:t>
            </a:r>
            <a:endParaRPr lang="en-US" altLang="ko-KR" sz="1300" b="1" dirty="0">
              <a:solidFill>
                <a:srgbClr val="2C03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74170"/>
              </p:ext>
            </p:extLst>
          </p:nvPr>
        </p:nvGraphicFramePr>
        <p:xfrm>
          <a:off x="416496" y="1484784"/>
          <a:ext cx="5544616" cy="4320483"/>
        </p:xfrm>
        <a:graphic>
          <a:graphicData uri="http://schemas.openxmlformats.org/drawingml/2006/table">
            <a:tbl>
              <a:tblPr/>
              <a:tblGrid>
                <a:gridCol w="2317831"/>
                <a:gridCol w="1102106"/>
                <a:gridCol w="840782"/>
                <a:gridCol w="1283897"/>
              </a:tblGrid>
              <a:tr h="3159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 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59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 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TAGDATA TABLE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59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COLUMN 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DATA 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LENGTH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OPTION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VARCHAR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PRIMARY KEY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TID_NM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TIMESTAMP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DATETIME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BASETIME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VALUE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DOUBLE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SUMMARIZED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STR_VALUE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VARCHAR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DOUBLE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DOUBLE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BAR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VARCHAR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AssetID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VARCHAR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Des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VARCHAR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868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3B4A25B6-98E3-477E-8B80-0CC0F85AA6F1}"/>
              </a:ext>
            </a:extLst>
          </p:cNvPr>
          <p:cNvSpPr/>
          <p:nvPr/>
        </p:nvSpPr>
        <p:spPr>
          <a:xfrm>
            <a:off x="221094" y="838338"/>
            <a:ext cx="102773" cy="358414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BF98C4E2-8026-44CB-A789-AFBDAB1C9547}"/>
              </a:ext>
            </a:extLst>
          </p:cNvPr>
          <p:cNvSpPr/>
          <p:nvPr/>
        </p:nvSpPr>
        <p:spPr>
          <a:xfrm>
            <a:off x="304588" y="854750"/>
            <a:ext cx="9252375" cy="30762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en-US" sz="1500" b="1" spc="-70" dirty="0" err="1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시계열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 데이터 데이터 구조</a:t>
            </a:r>
            <a:endParaRPr lang="ko-KR" altLang="en-US" sz="1500" b="1" spc="-7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1B901FBE-02A0-46DD-B9BD-C9968A1D2EF7}"/>
              </a:ext>
            </a:extLst>
          </p:cNvPr>
          <p:cNvGrpSpPr/>
          <p:nvPr/>
        </p:nvGrpSpPr>
        <p:grpSpPr>
          <a:xfrm>
            <a:off x="352480" y="1349772"/>
            <a:ext cx="9281039" cy="634569"/>
            <a:chOff x="591422" y="1619733"/>
            <a:chExt cx="8460000" cy="556039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xmlns="" id="{2E6AECBF-5970-49D3-8084-90CF3D20939C}"/>
                </a:ext>
              </a:extLst>
            </p:cNvPr>
            <p:cNvCxnSpPr/>
            <p:nvPr/>
          </p:nvCxnSpPr>
          <p:spPr bwMode="auto">
            <a:xfrm flipH="1">
              <a:off x="591422" y="2175772"/>
              <a:ext cx="8460000" cy="0"/>
            </a:xfrm>
            <a:prstGeom prst="line">
              <a:avLst/>
            </a:prstGeom>
            <a:solidFill>
              <a:srgbClr val="0066FF"/>
            </a:solidFill>
            <a:ln w="9525" cap="flat" cmpd="sng" algn="ctr">
              <a:gradFill>
                <a:gsLst>
                  <a:gs pos="0">
                    <a:srgbClr val="0070C0">
                      <a:alpha val="0"/>
                    </a:srgbClr>
                  </a:gs>
                  <a:gs pos="21000">
                    <a:srgbClr val="0070C0"/>
                  </a:gs>
                  <a:gs pos="79000">
                    <a:srgbClr val="0070C0"/>
                  </a:gs>
                  <a:gs pos="100000">
                    <a:srgbClr val="FFFFFF">
                      <a:lumMod val="85000"/>
                      <a:alpha val="0"/>
                    </a:srgbClr>
                  </a:gs>
                </a:gsLst>
                <a:lin ang="108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xmlns="" id="{F7B96586-AAA1-473A-BCAB-D39A71AF200D}"/>
                </a:ext>
              </a:extLst>
            </p:cNvPr>
            <p:cNvCxnSpPr/>
            <p:nvPr/>
          </p:nvCxnSpPr>
          <p:spPr bwMode="auto">
            <a:xfrm flipH="1">
              <a:off x="591422" y="1619733"/>
              <a:ext cx="8352000" cy="0"/>
            </a:xfrm>
            <a:prstGeom prst="line">
              <a:avLst/>
            </a:prstGeom>
            <a:solidFill>
              <a:srgbClr val="0066FF"/>
            </a:solidFill>
            <a:ln w="9525" cap="flat" cmpd="sng" algn="ctr">
              <a:gradFill>
                <a:gsLst>
                  <a:gs pos="0">
                    <a:srgbClr val="0070C0">
                      <a:alpha val="0"/>
                    </a:srgbClr>
                  </a:gs>
                  <a:gs pos="21000">
                    <a:srgbClr val="0070C0"/>
                  </a:gs>
                  <a:gs pos="79000">
                    <a:srgbClr val="0070C0"/>
                  </a:gs>
                  <a:gs pos="100000">
                    <a:srgbClr val="FFFFFF">
                      <a:lumMod val="85000"/>
                      <a:alpha val="0"/>
                    </a:srgbClr>
                  </a:gs>
                </a:gsLst>
                <a:lin ang="108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CB86473-A275-40D8-B371-615FA3ECABC7}"/>
              </a:ext>
            </a:extLst>
          </p:cNvPr>
          <p:cNvSpPr txBox="1"/>
          <p:nvPr/>
        </p:nvSpPr>
        <p:spPr>
          <a:xfrm>
            <a:off x="431012" y="1268760"/>
            <a:ext cx="915202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REST API </a:t>
            </a:r>
            <a:r>
              <a:rPr lang="en-US" altLang="ko-KR" sz="13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Url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  <a:hlinkClick r:id="rId2"/>
              </a:rPr>
              <a:t>http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  <a:hlinkClick r:id="rId2"/>
              </a:rPr>
              <a:t>://</a:t>
            </a:r>
            <a:r>
              <a:rPr lang="en-US" altLang="ko-KR" sz="1400" dirty="0" smtClean="0">
                <a:hlinkClick r:id="rId2"/>
              </a:rPr>
              <a:t>3.35.7.227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  <a:hlinkClick r:id="rId3"/>
              </a:rPr>
              <a:t>:8888/datalake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(</a:t>
            </a:r>
            <a:r>
              <a:rPr lang="ko-KR" altLang="en-US" sz="1300" b="1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테스트 </a:t>
            </a:r>
            <a:r>
              <a:rPr lang="en-US" altLang="ko-KR" sz="1300" b="1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API, </a:t>
            </a:r>
            <a:r>
              <a:rPr lang="ko-KR" altLang="en-US" sz="1300" b="1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 서버 반영 시 추후 안내</a:t>
            </a:r>
            <a:r>
              <a:rPr lang="en-US" altLang="ko-KR" sz="13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 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형식</a:t>
            </a:r>
            <a:endParaRPr lang="en-US" altLang="ko-KR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0512" y="2420888"/>
            <a:ext cx="4896544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4CB86473-A275-40D8-B371-615FA3ECABC7}"/>
              </a:ext>
            </a:extLst>
          </p:cNvPr>
          <p:cNvSpPr txBox="1"/>
          <p:nvPr/>
        </p:nvSpPr>
        <p:spPr>
          <a:xfrm>
            <a:off x="704528" y="2060848"/>
            <a:ext cx="79208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"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TID": "MI_Cir_Etch_SPEtch1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"TID_NM": “</a:t>
            </a:r>
            <a:r>
              <a:rPr lang="ko-KR" altLang="en-US" sz="12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공장동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라인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2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에칭설비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1",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"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TIMESTAMP": "2024-09-23"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"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VALUE": 11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"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STR_VALUE": ""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"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USL":12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"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LSL":8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"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BAR":"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barcode20250923001“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“LOT":"20250923001A12"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"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AssetID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":"11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"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Des": "" </a:t>
            </a:r>
            <a:r>
              <a:rPr lang="en-US" altLang="ko-KR" sz="1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// </a:t>
            </a:r>
            <a:r>
              <a:rPr lang="ko-KR" altLang="en-US" sz="1200" b="1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빈값으로</a:t>
            </a:r>
            <a:r>
              <a:rPr lang="ko-KR" altLang="en-US" sz="12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전송</a:t>
            </a:r>
            <a:endParaRPr lang="en-US" altLang="ko-KR" sz="1200" b="1" dirty="0" smtClean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제목 65"/>
          <p:cNvSpPr>
            <a:spLocks noGrp="1"/>
          </p:cNvSpPr>
          <p:nvPr>
            <p:ph type="title"/>
          </p:nvPr>
        </p:nvSpPr>
        <p:spPr>
          <a:xfrm>
            <a:off x="232139" y="142852"/>
            <a:ext cx="9441722" cy="50006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시계열</a:t>
            </a:r>
            <a:r>
              <a:rPr lang="ko-KR" altLang="en-US" dirty="0" smtClean="0"/>
              <a:t> 데이터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6710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3B4A25B6-98E3-477E-8B80-0CC0F85AA6F1}"/>
              </a:ext>
            </a:extLst>
          </p:cNvPr>
          <p:cNvSpPr/>
          <p:nvPr/>
        </p:nvSpPr>
        <p:spPr>
          <a:xfrm>
            <a:off x="221094" y="838338"/>
            <a:ext cx="102773" cy="358414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BF98C4E2-8026-44CB-A789-AFBDAB1C9547}"/>
              </a:ext>
            </a:extLst>
          </p:cNvPr>
          <p:cNvSpPr/>
          <p:nvPr/>
        </p:nvSpPr>
        <p:spPr>
          <a:xfrm>
            <a:off x="304588" y="854750"/>
            <a:ext cx="9252375" cy="30762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I/F </a:t>
            </a:r>
            <a:r>
              <a:rPr lang="ko-KR" altLang="en-US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송신 </a:t>
            </a:r>
            <a:r>
              <a:rPr lang="en-US" altLang="ko-KR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– </a:t>
            </a:r>
            <a:r>
              <a:rPr lang="ko-KR" altLang="en-US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송신 </a:t>
            </a:r>
            <a:r>
              <a:rPr lang="en-US" altLang="ko-KR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Agent </a:t>
            </a:r>
            <a:r>
              <a:rPr lang="ko-KR" altLang="en-US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서버문제</a:t>
            </a:r>
          </a:p>
        </p:txBody>
      </p:sp>
      <p:sp>
        <p:nvSpPr>
          <p:cNvPr id="41" name="제목 65"/>
          <p:cNvSpPr>
            <a:spLocks noGrp="1"/>
          </p:cNvSpPr>
          <p:nvPr>
            <p:ph type="title"/>
          </p:nvPr>
        </p:nvSpPr>
        <p:spPr>
          <a:xfrm>
            <a:off x="232139" y="142852"/>
            <a:ext cx="9441722" cy="50006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장애처리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8662EF71-9333-4790-A91E-B25D476E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2132856"/>
            <a:ext cx="9270863" cy="419761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5E60DD5F-37C3-4169-B4B2-67B81AF23D5A}"/>
              </a:ext>
            </a:extLst>
          </p:cNvPr>
          <p:cNvSpPr/>
          <p:nvPr/>
        </p:nvSpPr>
        <p:spPr>
          <a:xfrm>
            <a:off x="323867" y="1392172"/>
            <a:ext cx="61189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/>
              <a:t>송신 </a:t>
            </a:r>
            <a:r>
              <a:rPr lang="en-US" altLang="ko-KR" sz="1400" dirty="0"/>
              <a:t>Agent </a:t>
            </a:r>
            <a:r>
              <a:rPr lang="ko-KR" altLang="en-US" sz="1400" dirty="0"/>
              <a:t>문제의 경우 송신 시스템에서 에러 처리 진행</a:t>
            </a:r>
            <a:r>
              <a:rPr lang="en-US" altLang="ko-KR" sz="1400" dirty="0" smtClean="0"/>
              <a:t>(Exception </a:t>
            </a:r>
            <a:r>
              <a:rPr lang="ko-KR" altLang="en-US" sz="1400" dirty="0" smtClean="0"/>
              <a:t>처리</a:t>
            </a:r>
            <a:r>
              <a:rPr lang="en-US" altLang="ko-KR" sz="1400" dirty="0" smtClean="0"/>
              <a:t>)</a:t>
            </a:r>
            <a:endParaRPr lang="en-US" altLang="ko-KR" sz="1400" dirty="0"/>
          </a:p>
          <a:p>
            <a:r>
              <a:rPr lang="ko-KR" altLang="en-US" sz="1400" dirty="0"/>
              <a:t>송신 </a:t>
            </a:r>
            <a:r>
              <a:rPr lang="en-US" altLang="ko-KR" sz="1400" dirty="0"/>
              <a:t>Agent </a:t>
            </a:r>
            <a:r>
              <a:rPr lang="ko-KR" altLang="en-US" sz="1400" dirty="0"/>
              <a:t>장애 해결 후 재 전송 진행</a:t>
            </a:r>
            <a:endParaRPr 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DCF747D0-717E-4B39-8121-0EC1591474D4}"/>
              </a:ext>
            </a:extLst>
          </p:cNvPr>
          <p:cNvSpPr/>
          <p:nvPr/>
        </p:nvSpPr>
        <p:spPr>
          <a:xfrm>
            <a:off x="2864768" y="4725144"/>
            <a:ext cx="6480720" cy="169968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0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3B4A25B6-98E3-477E-8B80-0CC0F85AA6F1}"/>
              </a:ext>
            </a:extLst>
          </p:cNvPr>
          <p:cNvSpPr/>
          <p:nvPr/>
        </p:nvSpPr>
        <p:spPr>
          <a:xfrm>
            <a:off x="221094" y="838338"/>
            <a:ext cx="102773" cy="358414"/>
          </a:xfrm>
          <a:prstGeom prst="rect">
            <a:avLst/>
          </a:prstGeom>
          <a:solidFill>
            <a:srgbClr val="006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BF98C4E2-8026-44CB-A789-AFBDAB1C9547}"/>
              </a:ext>
            </a:extLst>
          </p:cNvPr>
          <p:cNvSpPr/>
          <p:nvPr/>
        </p:nvSpPr>
        <p:spPr>
          <a:xfrm>
            <a:off x="382162" y="629707"/>
            <a:ext cx="9252375" cy="113409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I/F </a:t>
            </a:r>
            <a:r>
              <a:rPr lang="ko-KR" altLang="en-US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송신 </a:t>
            </a:r>
            <a:r>
              <a:rPr lang="en-US" altLang="ko-KR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– </a:t>
            </a:r>
            <a:r>
              <a:rPr lang="ko-KR" altLang="en-US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송신 </a:t>
            </a:r>
            <a:r>
              <a:rPr lang="en-US" altLang="ko-KR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Agent 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서버문제</a:t>
            </a:r>
            <a:endParaRPr lang="en-US" altLang="ko-KR" sz="1500" b="1" spc="-70" dirty="0" smtClean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  <a:p>
            <a:pPr lvl="0"/>
            <a:r>
              <a:rPr lang="en-US" altLang="ko-KR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 </a:t>
            </a:r>
            <a:r>
              <a:rPr lang="en-US" altLang="ko-KR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- RESTAPI 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발송 업체는 에러코드 </a:t>
            </a:r>
            <a:r>
              <a:rPr lang="en-US" altLang="ko-KR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100 :  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성공</a:t>
            </a:r>
            <a:r>
              <a:rPr lang="en-US" altLang="ko-KR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,  -110 or -120 : 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실패 예외 처리</a:t>
            </a:r>
            <a:endParaRPr lang="en-US" altLang="ko-KR" sz="1500" b="1" spc="-70" dirty="0" smtClean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  <a:p>
            <a:pPr lvl="0"/>
            <a:r>
              <a:rPr lang="en-US" altLang="ko-KR" sz="1500" b="1" spc="-7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 </a:t>
            </a:r>
            <a:r>
              <a:rPr lang="en-US" altLang="ko-KR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- 404 </a:t>
            </a:r>
            <a:r>
              <a:rPr lang="en-US" altLang="ko-KR" sz="1500" b="1" spc="-70" dirty="0" err="1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Forbbiden</a:t>
            </a:r>
            <a:r>
              <a:rPr lang="en-US" altLang="ko-KR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,  Internet Server Error 500 </a:t>
            </a:r>
            <a:r>
              <a:rPr lang="ko-KR" altLang="en-US" sz="1500" b="1" spc="-7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poqaHanSans" charset="-128"/>
              </a:rPr>
              <a:t>예외처리 </a:t>
            </a:r>
            <a:endParaRPr lang="ko-KR" altLang="en-US" sz="1500" b="1" spc="-7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poqaHanSans" charset="-128"/>
            </a:endParaRPr>
          </a:p>
        </p:txBody>
      </p:sp>
      <p:sp>
        <p:nvSpPr>
          <p:cNvPr id="41" name="제목 65"/>
          <p:cNvSpPr>
            <a:spLocks noGrp="1"/>
          </p:cNvSpPr>
          <p:nvPr>
            <p:ph type="title"/>
          </p:nvPr>
        </p:nvSpPr>
        <p:spPr>
          <a:xfrm>
            <a:off x="232139" y="142852"/>
            <a:ext cx="9441722" cy="50006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장애처리</a:t>
            </a:r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109125"/>
              </p:ext>
            </p:extLst>
          </p:nvPr>
        </p:nvGraphicFramePr>
        <p:xfrm>
          <a:off x="4337328" y="2204858"/>
          <a:ext cx="4936152" cy="4353326"/>
        </p:xfrm>
        <a:graphic>
          <a:graphicData uri="http://schemas.openxmlformats.org/drawingml/2006/table">
            <a:tbl>
              <a:tblPr/>
              <a:tblGrid>
                <a:gridCol w="266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68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68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668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668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004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8016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47348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구간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에러코드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DESC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470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Agent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전송성공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Agent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 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-120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송신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I/F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항목 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4734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Kafka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성공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4734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-210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Kafka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-220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매핑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KSX9101)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변환 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-230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암호화 서비스 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Kafka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송신 성공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-310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Kafka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송신 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-320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Agent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-330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복호화 서비스 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DB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전송 성공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-410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DB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 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-420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DB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통신 서비스 장애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402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I/F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데이터 처리 성공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4734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-510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I/F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데이터 처리 실패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514401"/>
              </p:ext>
            </p:extLst>
          </p:nvPr>
        </p:nvGraphicFramePr>
        <p:xfrm>
          <a:off x="488504" y="2204864"/>
          <a:ext cx="3312368" cy="1158102"/>
        </p:xfrm>
        <a:graphic>
          <a:graphicData uri="http://schemas.openxmlformats.org/drawingml/2006/table">
            <a:tbl>
              <a:tblPr/>
              <a:tblGrid>
                <a:gridCol w="5838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284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67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/>
                        </a:rPr>
                        <a:t>구간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/>
                        </a:rPr>
                        <a:t>구간 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1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Agent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장애 구간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1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Kafka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장애구간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1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Kafka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송신 장애구간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1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DB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장애구간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96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Data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처리 장애구간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Call Back URL)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9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r" defTabSz="914400" rtl="0" eaLnBrk="1" fontAlgn="auto" latinLnBrk="1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2800" b="1" i="0" u="none" strike="noStrike" kern="1200" cap="none" spc="0" normalizeH="0" baseline="0" noProof="0" dirty="0" smtClean="0">
            <a:ln>
              <a:noFill/>
            </a:ln>
            <a:solidFill>
              <a:schemeClr val="bg1">
                <a:lumMod val="50000"/>
              </a:schemeClr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26501</TotalTime>
  <Words>588</Words>
  <Application>Microsoft Office PowerPoint</Application>
  <PresentationFormat>A4 용지(210x297mm)</PresentationFormat>
  <Paragraphs>259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1. RDIA 시스템 연동 개요</vt:lpstr>
      <vt:lpstr>2. 메시지 전송 규격 </vt:lpstr>
      <vt:lpstr>3. 시계열 데이터</vt:lpstr>
      <vt:lpstr>3. 시계열 데이터</vt:lpstr>
      <vt:lpstr>4. 장애처리</vt:lpstr>
      <vt:lpstr>4. 장애처리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양식서(파워포인트가로)표준템플릿</dc:title>
  <dc:subject>템플릿</dc:subject>
  <dc:creator>이찬희</dc:creator>
  <cp:keywords>CMMI; 개발산출물</cp:keywords>
  <cp:lastModifiedBy>IMPIX</cp:lastModifiedBy>
  <cp:revision>1417</cp:revision>
  <cp:lastPrinted>2014-02-18T05:52:27Z</cp:lastPrinted>
  <dcterms:created xsi:type="dcterms:W3CDTF">2012-03-20T06:58:12Z</dcterms:created>
  <dcterms:modified xsi:type="dcterms:W3CDTF">2025-11-20T03:42:53Z</dcterms:modified>
  <cp:category>BS-OPD</cp:category>
</cp:coreProperties>
</file>